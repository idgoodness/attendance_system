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67" r:id="rId3"/>
    <p:sldId id="256" r:id="rId4"/>
    <p:sldId id="257" r:id="rId6"/>
    <p:sldId id="258" r:id="rId7"/>
    <p:sldId id="259" r:id="rId8"/>
    <p:sldId id="260" r:id="rId9"/>
    <p:sldId id="261" r:id="rId10"/>
    <p:sldId id="262" r:id="rId11"/>
    <p:sldId id="263" r:id="rId12"/>
    <p:sldId id="264" r:id="rId13"/>
    <p:sldId id="265" r:id="rId14"/>
    <p:sldId id="266" r:id="rId1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8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Good morning, members of the panel. I will begin by introducing the background. Paper attendance rosters invite massive proxy fraud and tracking overhead. While cloud-dependent systems solve this, they introduce critical issues like subscription overheads, severe bandwidth consumption, and total vulnerability to network dropouts. Shifting deep learning directly to local edge devices solves this, enabling offline runtime tracking.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study addresses three distinct problems. First, 2D face scans are vulnerable to presentation attacks where photos easily bypass registration. Second, unoptimized neural models exhaust edge CPUs, dropping frame rates to unworkable levels. Third, static thresholds cause 'user exclusion' by failing on naturally diverse human eye phenotypes. We resolve these limitations structurally.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primary aim is to implement a secure, fully offline Edge-AI face recognition and liveness detection framework. We broke this down into four key steps: building an asynchronous vision pipeline, implementing an adaptive eye baseline tracking algorithm, establishing a deduplicated SQLite database structure, and compiling the code into a stable standalone windows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execute complex deep learning locally, we stripped unnecessary pipelines from the default InsightFace model zoo—bypassing 3D mapping and age/gender estimation. This saved massive CPU cycles. We then isolated tasks using multithreading: Thread 1 feeds the GUI loop seamlessly, while Thread 2 parses matrices in the background without freezing the window.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The system relies on solid mathematical logic. For face recognition, we compute the Cosine Similarity to measure the angular displacement between vectors. For liveness detection, we capture localized coordinate clusters to find the Eye Aspect Ratio. Critically, our anti-spoofing maps blinks based on a strict 30% drop from that user's dynamic resting state.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To optimize verification, we tested the engine across 200 trials. Setting a loose threshold of 0.30 caused a high 15% False Acceptance Rate—this is unacceptable for attendance. Tightening to 0.60 blocked intruders but rejected 55% of legitimate students. By mapping our boundary to the 0.40–0.45 zone, we secured a perfect 0% FAR while keeping FRR below 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points out Figure 4.2. As our similarity thresholds grow stricter, our False Acceptance Rate drops straight to zero, while False Rejection rises. The green highlighted zone shows our optimized operating zone between 0.40 and 0.45, where we completely block intruders while maintaining high user accessibility.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displays our computational efficiency. Running heavy networks sequentially on one thread blocks the GUI, resulting in a lagging 4.2 FPS. By shifting AI logic to background worker threads, the frame rate shot up to 32.5 FPS—a massive 7.7x performance acceleration on standard computer hardware without requiring expensive graphics cards.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This slide illustrates Figure 4.4, comparing baseline sequential operations against our multithreaded engine. The 7.7x execution boost allows the platform to run seamlessly on standard school computers, proving we don't need cloud hosting or specialized processing hardware to achieve responsive biometric security.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Our platform includes complete administrative and database security tools. First, the database is self-healing, automatically rebuilding schemas on startup if compiled directories are moved. Second, we designed biometric deduplication, scanning face vectors during registration to block fraud. Third, cascade triggers ensure that deleting a student purges all corresponding logs.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In conclusion, we have built a highly secure, offline, Edge-AI attendance tracking system that achieves 99% accuracy and 32.5 FPS. For future scaling, we recommend porting the decoupled logic into mobile Android apps, connecting triggers directly to physical examination hall turnstiles, and adding AES-256 block encryption over the raw facial templates.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365760"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362895" cy="2011680"/>
          </a:xfrm>
          <a:prstGeom prst="rect">
            <a:avLst/>
          </a:prstGeom>
          <a:noFill/>
        </p:spPr>
        <p:txBody>
          <a:bodyPr wrap="square">
            <a:spAutoFit/>
          </a:bodyPr>
          <a:lstStyle/>
          <a:p>
            <a:pPr>
              <a:defRPr sz="3600" b="1">
                <a:solidFill>
                  <a:srgbClr val="0F172A"/>
                </a:solidFill>
                <a:latin typeface="Calibri" panose="020F0502020204030204"/>
              </a:defRPr>
            </a:pPr>
            <a:r>
              <a:t>Design and Implementation of an Offline, Edge-AI Based Face Recognition Attendance System with Liveness Detection</a:t>
            </a:r>
          </a:p>
        </p:txBody>
      </p:sp>
      <p:sp>
        <p:nvSpPr>
          <p:cNvPr id="5" name="TextBox 4"/>
          <p:cNvSpPr txBox="1"/>
          <p:nvPr/>
        </p:nvSpPr>
        <p:spPr>
          <a:xfrm>
            <a:off x="914400" y="4572000"/>
            <a:ext cx="8015605" cy="1234440"/>
          </a:xfrm>
          <a:prstGeom prst="rect">
            <a:avLst/>
          </a:prstGeom>
          <a:noFill/>
        </p:spPr>
        <p:txBody>
          <a:bodyPr wrap="none">
            <a:noAutofit/>
          </a:bodyPr>
          <a:lstStyle/>
          <a:p>
            <a:pPr>
              <a:defRPr sz="1400" b="1">
                <a:solidFill>
                  <a:srgbClr val="334155"/>
                </a:solidFill>
                <a:latin typeface="Calibri" panose="020F0502020204030204"/>
              </a:defRPr>
            </a:pPr>
            <a:r>
              <a:rPr sz="1800"/>
              <a:t>Presente</a:t>
            </a:r>
            <a:r>
              <a:rPr lang="en-US" sz="1800"/>
              <a:t>d by</a:t>
            </a:r>
            <a:r>
              <a:rPr sz="1800"/>
              <a:t>: </a:t>
            </a:r>
            <a:r>
              <a:rPr lang="en-US" sz="1800"/>
              <a:t>Damilare John Romimora and </a:t>
            </a:r>
            <a:r>
              <a:rPr sz="1800"/>
              <a:t>Goodness</a:t>
            </a:r>
            <a:r>
              <a:rPr lang="en-US" sz="1800"/>
              <a:t> Adeyinka</a:t>
            </a:r>
            <a:r>
              <a:rPr sz="1800"/>
              <a:t> Adewuyi</a:t>
            </a:r>
            <a:endParaRPr sz="1800"/>
          </a:p>
          <a:p>
            <a:pPr>
              <a:defRPr sz="1300">
                <a:solidFill>
                  <a:srgbClr val="334155"/>
                </a:solidFill>
                <a:latin typeface="Calibri" panose="020F0502020204030204"/>
              </a:defRPr>
            </a:pPr>
            <a:r>
              <a:rPr sz="1600"/>
              <a:t>Department: Computer Science, Ladoke Akintola University of Technology</a:t>
            </a:r>
            <a:endParaRPr sz="1600"/>
          </a:p>
          <a:p>
            <a:pPr>
              <a:defRPr sz="1300">
                <a:solidFill>
                  <a:srgbClr val="334155"/>
                </a:solidFill>
                <a:latin typeface="Calibri" panose="020F0502020204030204"/>
              </a:defRPr>
            </a:pPr>
            <a:r>
              <a:rPr sz="1600"/>
              <a:t>Supervisor: </a:t>
            </a:r>
            <a:r>
              <a:rPr lang="en-US" sz="1600"/>
              <a:t>Prof. W.O Ismaila</a:t>
            </a:r>
            <a:endParaRPr lang="en-US" sz="1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Introduction &amp; Research Background</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463040"/>
            <a:ext cx="10820095" cy="438912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62895" cy="4023360"/>
          </a:xfrm>
          <a:prstGeom prst="rect">
            <a:avLst/>
          </a:prstGeom>
          <a:noFill/>
        </p:spPr>
        <p:txBody>
          <a:bodyPr wrap="square">
            <a:spAutoFit/>
          </a:bodyPr>
          <a:lstStyle/>
          <a:p>
            <a:pPr>
              <a:spcAft>
                <a:spcPts val="2200"/>
              </a:spcAft>
              <a:defRPr sz="1800">
                <a:solidFill>
                  <a:srgbClr val="334155"/>
                </a:solidFill>
                <a:latin typeface="Calibri" panose="020F0502020204030204"/>
              </a:defRPr>
            </a:pPr>
            <a:r>
              <a:t>• Traditional System Failure: Paper records facilitate proxy fraud and create tracking bottlenecks.</a:t>
            </a:r>
          </a:p>
          <a:p>
            <a:pPr>
              <a:spcAft>
                <a:spcPts val="2200"/>
              </a:spcAft>
              <a:defRPr sz="1800">
                <a:solidFill>
                  <a:srgbClr val="334155"/>
                </a:solidFill>
                <a:latin typeface="Calibri" panose="020F0502020204030204"/>
              </a:defRPr>
            </a:pPr>
            <a:r>
              <a:t>• Cloud-Dependency Risks: High bandwidth usage, subscription costs, and immediate failure on internet dropout.</a:t>
            </a:r>
          </a:p>
          <a:p>
            <a:pPr>
              <a:spcAft>
                <a:spcPts val="2200"/>
              </a:spcAft>
              <a:defRPr sz="1800">
                <a:solidFill>
                  <a:srgbClr val="334155"/>
                </a:solidFill>
                <a:latin typeface="Calibri" panose="020F0502020204030204"/>
              </a:defRPr>
            </a:pPr>
            <a:r>
              <a:t>• The Solution (Edge-AI): Shifting neural network analysis from cloud servers down to local user hardware.</a:t>
            </a:r>
          </a:p>
          <a:p>
            <a:pPr>
              <a:spcAft>
                <a:spcPts val="2200"/>
              </a:spcAft>
              <a:defRPr sz="1800">
                <a:solidFill>
                  <a:srgbClr val="334155"/>
                </a:solidFill>
                <a:latin typeface="Calibri" panose="020F0502020204030204"/>
              </a:defRPr>
            </a:pPr>
            <a:r>
              <a:t>• Core Technologies Combined: OpenCV (Video Capture), InsightFace (Embeddings), and Dynamic EAR (Liveness).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Statement of the Problem</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Biometric Spoofing</a:t>
            </a:r>
          </a:p>
          <a:p>
            <a:pPr>
              <a:spcAft>
                <a:spcPts val="1000"/>
              </a:spcAft>
              <a:defRPr sz="1400">
                <a:solidFill>
                  <a:srgbClr val="334155"/>
                </a:solidFill>
                <a:latin typeface="Calibri" panose="020F0502020204030204"/>
              </a:defRPr>
            </a:pPr>
            <a:r>
              <a:t>Standard 2D face scanning lacks depth analysis and fails against basic printed photo presentation attacks.</a:t>
            </a:r>
          </a:p>
        </p:txBody>
      </p:sp>
      <p:sp>
        <p:nvSpPr>
          <p:cNvPr id="6" name="Rounded Rectangle 5"/>
          <p:cNvSpPr/>
          <p:nvPr/>
        </p:nvSpPr>
        <p:spPr>
          <a:xfrm>
            <a:off x="443484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CPU Starvation</a:t>
            </a:r>
          </a:p>
          <a:p>
            <a:pPr>
              <a:spcAft>
                <a:spcPts val="1000"/>
              </a:spcAft>
              <a:defRPr sz="1400">
                <a:solidFill>
                  <a:srgbClr val="334155"/>
                </a:solidFill>
                <a:latin typeface="Calibri" panose="020F0502020204030204"/>
              </a:defRPr>
            </a:pPr>
            <a:r>
              <a:t>Heavy model zoos drain computer threads, triggering severe visual lag and system crashes on standard laptops.</a:t>
            </a:r>
          </a:p>
        </p:txBody>
      </p:sp>
      <p:sp>
        <p:nvSpPr>
          <p:cNvPr id="8" name="Rounded Rectangle 7"/>
          <p:cNvSpPr/>
          <p:nvPr/>
        </p:nvSpPr>
        <p:spPr>
          <a:xfrm>
            <a:off x="818388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Static Threshold Failures</a:t>
            </a:r>
          </a:p>
          <a:p>
            <a:pPr>
              <a:spcAft>
                <a:spcPts val="1000"/>
              </a:spcAft>
              <a:defRPr sz="1400">
                <a:solidFill>
                  <a:srgbClr val="334155"/>
                </a:solidFill>
                <a:latin typeface="Calibri" panose="020F0502020204030204"/>
              </a:defRPr>
            </a:pPr>
            <a:r>
              <a:t>Fixed mathematical variables ignore natural human eye shapes, causing high false rejection counts.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Research Aim and Objectives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463040"/>
            <a:ext cx="10820095" cy="438912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10362895" cy="4023360"/>
          </a:xfrm>
          <a:prstGeom prst="rect">
            <a:avLst/>
          </a:prstGeom>
          <a:noFill/>
        </p:spPr>
        <p:txBody>
          <a:bodyPr wrap="square">
            <a:spAutoFit/>
          </a:bodyPr>
          <a:lstStyle/>
          <a:p>
            <a:pPr>
              <a:spcAft>
                <a:spcPts val="2200"/>
              </a:spcAft>
              <a:defRPr sz="1800">
                <a:solidFill>
                  <a:srgbClr val="334155"/>
                </a:solidFill>
                <a:latin typeface="Calibri" panose="020F0502020204030204"/>
              </a:defRPr>
            </a:pPr>
            <a:r>
              <a:t>• Core Aim: To design, build, and deploy an offline, high-speed, secure Edge-AI attendance engine with dynamic liveness.</a:t>
            </a:r>
          </a:p>
          <a:p>
            <a:pPr>
              <a:spcAft>
                <a:spcPts val="2200"/>
              </a:spcAft>
              <a:defRPr sz="1800">
                <a:solidFill>
                  <a:srgbClr val="334155"/>
                </a:solidFill>
                <a:latin typeface="Calibri" panose="020F0502020204030204"/>
              </a:defRPr>
            </a:pPr>
            <a:r>
              <a:t>• Objective 1: Architect an Asynchronous Multithreaded execution pipeline to protect system responsiveness.</a:t>
            </a:r>
          </a:p>
          <a:p>
            <a:pPr>
              <a:spcAft>
                <a:spcPts val="2200"/>
              </a:spcAft>
              <a:defRPr sz="1800">
                <a:solidFill>
                  <a:srgbClr val="334155"/>
                </a:solidFill>
                <a:latin typeface="Calibri" panose="020F0502020204030204"/>
              </a:defRPr>
            </a:pPr>
            <a:r>
              <a:t>• Objective 2: Develop a dynamic Eye Aspect Ratio (EAR) baseline model for precise presentation attack deterrence.</a:t>
            </a:r>
          </a:p>
          <a:p>
            <a:pPr>
              <a:spcAft>
                <a:spcPts val="2200"/>
              </a:spcAft>
              <a:defRPr sz="1800">
                <a:solidFill>
                  <a:srgbClr val="334155"/>
                </a:solidFill>
                <a:latin typeface="Calibri" panose="020F0502020204030204"/>
              </a:defRPr>
            </a:pPr>
            <a:r>
              <a:t>• Objective 3: Establish a self-healing relational SQLite core integrating active biometric deduplication.</a:t>
            </a:r>
          </a:p>
          <a:p>
            <a:pPr>
              <a:spcAft>
                <a:spcPts val="2200"/>
              </a:spcAft>
              <a:defRPr sz="1800">
                <a:solidFill>
                  <a:srgbClr val="334155"/>
                </a:solidFill>
                <a:latin typeface="Calibri" panose="020F0502020204030204"/>
              </a:defRPr>
            </a:pPr>
            <a:r>
              <a:t>• Objective 4: Package the platform as a standalone Windows executable (.exe) fully optimized for edge deployment.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System Architecture &amp; Optimization</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Module Restriction</a:t>
            </a:r>
          </a:p>
          <a:p>
            <a:pPr>
              <a:spcAft>
                <a:spcPts val="1000"/>
              </a:spcAft>
              <a:defRPr sz="1400">
                <a:solidFill>
                  <a:srgbClr val="334155"/>
                </a:solidFill>
                <a:latin typeface="Calibri" panose="020F0502020204030204"/>
              </a:defRPr>
            </a:pPr>
            <a:r>
              <a:t>Deactivated 3D landmarking and age profiling from InsightFace to optimize local RAM and CPU thread usage.</a:t>
            </a:r>
          </a:p>
        </p:txBody>
      </p:sp>
      <p:sp>
        <p:nvSpPr>
          <p:cNvPr id="6" name="Rounded Rectangle 5"/>
          <p:cNvSpPr/>
          <p:nvPr/>
        </p:nvSpPr>
        <p:spPr>
          <a:xfrm>
            <a:off x="443484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Asynchronous Threads</a:t>
            </a:r>
          </a:p>
          <a:p>
            <a:pPr>
              <a:spcAft>
                <a:spcPts val="1000"/>
              </a:spcAft>
              <a:defRPr sz="1400">
                <a:solidFill>
                  <a:srgbClr val="334155"/>
                </a:solidFill>
                <a:latin typeface="Calibri" panose="020F0502020204030204"/>
              </a:defRPr>
            </a:pPr>
            <a:r>
              <a:t>Decoupled code execution: Thread-1 maintains high UI frames while Thread-2 processes heavy background vector math.</a:t>
            </a:r>
          </a:p>
        </p:txBody>
      </p:sp>
      <p:sp>
        <p:nvSpPr>
          <p:cNvPr id="8" name="Rounded Rectangle 7"/>
          <p:cNvSpPr/>
          <p:nvPr/>
        </p:nvSpPr>
        <p:spPr>
          <a:xfrm>
            <a:off x="818388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Driver Direct Compiles</a:t>
            </a:r>
          </a:p>
          <a:p>
            <a:pPr>
              <a:spcAft>
                <a:spcPts val="1000"/>
              </a:spcAft>
              <a:defRPr sz="1400">
                <a:solidFill>
                  <a:srgbClr val="334155"/>
                </a:solidFill>
                <a:latin typeface="Calibri" panose="020F0502020204030204"/>
              </a:defRPr>
            </a:pPr>
            <a:r>
              <a:t>Swapped buggy standard Windows media engines for native DirectShow drivers to eliminate memory leaks.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Core Mathematical Foundations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371600"/>
            <a:ext cx="13716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371600"/>
            <a:ext cx="10332720" cy="1280160"/>
          </a:xfrm>
          <a:prstGeom prst="rect">
            <a:avLst/>
          </a:prstGeom>
          <a:noFill/>
        </p:spPr>
        <p:txBody>
          <a:bodyPr wrap="square">
            <a:spAutoFit/>
          </a:bodyPr>
          <a:lstStyle/>
          <a:p>
            <a:pPr>
              <a:defRPr sz="1500" b="1">
                <a:solidFill>
                  <a:srgbClr val="0F172A"/>
                </a:solidFill>
                <a:latin typeface="Calibri" panose="020F0502020204030204"/>
              </a:defRPr>
            </a:pPr>
            <a:r>
              <a:t>Spatial Face Identification</a:t>
            </a:r>
          </a:p>
          <a:p>
            <a:pPr>
              <a:spcBef>
                <a:spcPts val="400"/>
              </a:spcBef>
              <a:spcAft>
                <a:spcPts val="400"/>
              </a:spcAft>
              <a:defRPr sz="1800" b="1">
                <a:solidFill>
                  <a:srgbClr val="0D9488"/>
                </a:solidFill>
                <a:latin typeface="Consolas" panose="020B0609020204030204"/>
              </a:defRPr>
            </a:pPr>
            <a:r>
              <a:t>Cosine Similarity = (A ⋅ B) / (||A|| ||B||)</a:t>
            </a:r>
          </a:p>
          <a:p>
            <a:pPr>
              <a:defRPr sz="1300">
                <a:solidFill>
                  <a:srgbClr val="334155"/>
                </a:solidFill>
                <a:latin typeface="Calibri" panose="020F0502020204030204"/>
              </a:defRPr>
            </a:pPr>
            <a:r>
              <a:t>Calculates the exact angular vector displacement to identify users.</a:t>
            </a:r>
          </a:p>
        </p:txBody>
      </p:sp>
      <p:sp>
        <p:nvSpPr>
          <p:cNvPr id="6" name="Rectangle 5"/>
          <p:cNvSpPr/>
          <p:nvPr/>
        </p:nvSpPr>
        <p:spPr>
          <a:xfrm>
            <a:off x="685800" y="2926080"/>
            <a:ext cx="13716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926080"/>
            <a:ext cx="10332720" cy="1280160"/>
          </a:xfrm>
          <a:prstGeom prst="rect">
            <a:avLst/>
          </a:prstGeom>
          <a:noFill/>
        </p:spPr>
        <p:txBody>
          <a:bodyPr wrap="square">
            <a:spAutoFit/>
          </a:bodyPr>
          <a:lstStyle/>
          <a:p>
            <a:pPr>
              <a:defRPr sz="1500" b="1">
                <a:solidFill>
                  <a:srgbClr val="0F172A"/>
                </a:solidFill>
                <a:latin typeface="Calibri" panose="020F0502020204030204"/>
              </a:defRPr>
            </a:pPr>
            <a:r>
              <a:t>Liveness Coordinate Ratio</a:t>
            </a:r>
          </a:p>
          <a:p>
            <a:pPr>
              <a:spcBef>
                <a:spcPts val="400"/>
              </a:spcBef>
              <a:spcAft>
                <a:spcPts val="400"/>
              </a:spcAft>
              <a:defRPr sz="1800" b="1">
                <a:solidFill>
                  <a:srgbClr val="0D9488"/>
                </a:solidFill>
                <a:latin typeface="Consolas" panose="020B0609020204030204"/>
              </a:defRPr>
            </a:pPr>
            <a:r>
              <a:t>EAR = v_dist / max(h_dist, 0.001)</a:t>
            </a:r>
          </a:p>
          <a:p>
            <a:pPr>
              <a:defRPr sz="1300">
                <a:solidFill>
                  <a:srgbClr val="334155"/>
                </a:solidFill>
                <a:latin typeface="Calibri" panose="020F0502020204030204"/>
              </a:defRPr>
            </a:pPr>
            <a:r>
              <a:t>Maps 106-point eye tracking clusters to compute relative aspect ratios.</a:t>
            </a:r>
          </a:p>
        </p:txBody>
      </p:sp>
      <p:sp>
        <p:nvSpPr>
          <p:cNvPr id="8" name="Rectangle 7"/>
          <p:cNvSpPr/>
          <p:nvPr/>
        </p:nvSpPr>
        <p:spPr>
          <a:xfrm>
            <a:off x="685800" y="4480560"/>
            <a:ext cx="137160" cy="128016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480560"/>
            <a:ext cx="10332720" cy="1280160"/>
          </a:xfrm>
          <a:prstGeom prst="rect">
            <a:avLst/>
          </a:prstGeom>
          <a:noFill/>
        </p:spPr>
        <p:txBody>
          <a:bodyPr wrap="square">
            <a:spAutoFit/>
          </a:bodyPr>
          <a:lstStyle/>
          <a:p>
            <a:pPr>
              <a:defRPr sz="1500" b="1">
                <a:solidFill>
                  <a:srgbClr val="0F172A"/>
                </a:solidFill>
                <a:latin typeface="Calibri" panose="020F0502020204030204"/>
              </a:defRPr>
            </a:pPr>
            <a:r>
              <a:t>The Dynamic Blink Metric</a:t>
            </a:r>
          </a:p>
          <a:p>
            <a:pPr>
              <a:spcBef>
                <a:spcPts val="400"/>
              </a:spcBef>
              <a:spcAft>
                <a:spcPts val="400"/>
              </a:spcAft>
              <a:defRPr sz="1800" b="1">
                <a:solidFill>
                  <a:srgbClr val="0D9488"/>
                </a:solidFill>
                <a:latin typeface="Consolas" panose="020B0609020204030204"/>
              </a:defRPr>
            </a:pPr>
            <a:r>
              <a:t>Blink Verification = 30% Drop from Dynamic Baseline</a:t>
            </a:r>
          </a:p>
          <a:p>
            <a:pPr>
              <a:defRPr sz="1300">
                <a:solidFill>
                  <a:srgbClr val="334155"/>
                </a:solidFill>
                <a:latin typeface="Calibri" panose="020F0502020204030204"/>
              </a:defRPr>
            </a:pPr>
            <a:r>
              <a:t>Rejects photo prints and screens since they can't alter aspect ratios.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Face Recognition Performance Analysis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1645920"/>
          <a:ext cx="10820095" cy="4023360"/>
        </p:xfrm>
        <a:graphic>
          <a:graphicData uri="http://schemas.openxmlformats.org/drawingml/2006/table">
            <a:tbl>
              <a:tblPr firstRow="1" bandRow="1">
                <a:tableStyleId>{5C22544A-7EE6-4342-B048-85BDC9FD1C3A}</a:tableStyleId>
              </a:tblPr>
              <a:tblGrid>
                <a:gridCol w="1352511"/>
                <a:gridCol w="1352511"/>
                <a:gridCol w="1352511"/>
                <a:gridCol w="1352511"/>
                <a:gridCol w="1352511"/>
                <a:gridCol w="1352511"/>
                <a:gridCol w="1352511"/>
                <a:gridCol w="1352518"/>
              </a:tblGrid>
              <a:tr h="670560">
                <a:tc>
                  <a:txBody>
                    <a:bodyPr/>
                    <a:lstStyle/>
                    <a:p>
                      <a:pPr algn="ctr">
                        <a:defRPr sz="1400" b="1">
                          <a:solidFill>
                            <a:srgbClr val="FFFFFF"/>
                          </a:solidFill>
                          <a:latin typeface="Calibri" panose="020F0502020204030204"/>
                        </a:defRPr>
                      </a:pPr>
                      <a:r>
                        <a:t>Threshold</a:t>
                      </a:r>
                    </a:p>
                  </a:txBody>
                  <a:tcPr>
                    <a:solidFill>
                      <a:srgbClr val="0F172A"/>
                    </a:solidFill>
                  </a:tcPr>
                </a:tc>
                <a:tc>
                  <a:txBody>
                    <a:bodyPr/>
                    <a:lstStyle/>
                    <a:p>
                      <a:pPr algn="ctr">
                        <a:defRPr sz="1400" b="1">
                          <a:solidFill>
                            <a:srgbClr val="FFFFFF"/>
                          </a:solidFill>
                          <a:latin typeface="Calibri" panose="020F0502020204030204"/>
                        </a:defRPr>
                      </a:pPr>
                      <a:r>
                        <a:t>True Pos (TP)</a:t>
                      </a:r>
                    </a:p>
                  </a:txBody>
                  <a:tcPr>
                    <a:solidFill>
                      <a:srgbClr val="0F172A"/>
                    </a:solidFill>
                  </a:tcPr>
                </a:tc>
                <a:tc>
                  <a:txBody>
                    <a:bodyPr/>
                    <a:lstStyle/>
                    <a:p>
                      <a:pPr algn="ctr">
                        <a:defRPr sz="1400" b="1">
                          <a:solidFill>
                            <a:srgbClr val="FFFFFF"/>
                          </a:solidFill>
                          <a:latin typeface="Calibri" panose="020F0502020204030204"/>
                        </a:defRPr>
                      </a:pPr>
                      <a:r>
                        <a:t>True Neg (TN)</a:t>
                      </a:r>
                    </a:p>
                  </a:txBody>
                  <a:tcPr>
                    <a:solidFill>
                      <a:srgbClr val="0F172A"/>
                    </a:solidFill>
                  </a:tcPr>
                </a:tc>
                <a:tc>
                  <a:txBody>
                    <a:bodyPr/>
                    <a:lstStyle/>
                    <a:p>
                      <a:pPr algn="ctr">
                        <a:defRPr sz="1400" b="1">
                          <a:solidFill>
                            <a:srgbClr val="FFFFFF"/>
                          </a:solidFill>
                          <a:latin typeface="Calibri" panose="020F0502020204030204"/>
                        </a:defRPr>
                      </a:pPr>
                      <a:r>
                        <a:t>False Pos (FP)</a:t>
                      </a:r>
                    </a:p>
                  </a:txBody>
                  <a:tcPr>
                    <a:solidFill>
                      <a:srgbClr val="0F172A"/>
                    </a:solidFill>
                  </a:tcPr>
                </a:tc>
                <a:tc>
                  <a:txBody>
                    <a:bodyPr/>
                    <a:lstStyle/>
                    <a:p>
                      <a:pPr algn="ctr">
                        <a:defRPr sz="1400" b="1">
                          <a:solidFill>
                            <a:srgbClr val="FFFFFF"/>
                          </a:solidFill>
                          <a:latin typeface="Calibri" panose="020F0502020204030204"/>
                        </a:defRPr>
                      </a:pPr>
                      <a:r>
                        <a:t>False Neg (FN)</a:t>
                      </a:r>
                    </a:p>
                  </a:txBody>
                  <a:tcPr>
                    <a:solidFill>
                      <a:srgbClr val="0F172A"/>
                    </a:solidFill>
                  </a:tcPr>
                </a:tc>
                <a:tc>
                  <a:txBody>
                    <a:bodyPr/>
                    <a:lstStyle/>
                    <a:p>
                      <a:pPr algn="ctr">
                        <a:defRPr sz="1400" b="1">
                          <a:solidFill>
                            <a:srgbClr val="FFFFFF"/>
                          </a:solidFill>
                          <a:latin typeface="Calibri" panose="020F0502020204030204"/>
                        </a:defRPr>
                      </a:pPr>
                      <a:r>
                        <a:t>Accuracy</a:t>
                      </a:r>
                    </a:p>
                  </a:txBody>
                  <a:tcPr>
                    <a:solidFill>
                      <a:srgbClr val="0F172A"/>
                    </a:solidFill>
                  </a:tcPr>
                </a:tc>
                <a:tc>
                  <a:txBody>
                    <a:bodyPr/>
                    <a:lstStyle/>
                    <a:p>
                      <a:pPr algn="ctr">
                        <a:defRPr sz="1400" b="1">
                          <a:solidFill>
                            <a:srgbClr val="FFFFFF"/>
                          </a:solidFill>
                          <a:latin typeface="Calibri" panose="020F0502020204030204"/>
                        </a:defRPr>
                      </a:pPr>
                      <a:r>
                        <a:t>FAR</a:t>
                      </a:r>
                    </a:p>
                  </a:txBody>
                  <a:tcPr>
                    <a:solidFill>
                      <a:srgbClr val="0F172A"/>
                    </a:solidFill>
                  </a:tcPr>
                </a:tc>
                <a:tc>
                  <a:txBody>
                    <a:bodyPr/>
                    <a:lstStyle/>
                    <a:p>
                      <a:pPr algn="ctr">
                        <a:defRPr sz="1400" b="1">
                          <a:solidFill>
                            <a:srgbClr val="FFFFFF"/>
                          </a:solidFill>
                          <a:latin typeface="Calibri" panose="020F0502020204030204"/>
                        </a:defRPr>
                      </a:pPr>
                      <a:r>
                        <a:t>FRR</a:t>
                      </a:r>
                    </a:p>
                  </a:txBody>
                  <a:tcPr>
                    <a:solidFill>
                      <a:srgbClr val="0F172A"/>
                    </a:solidFill>
                  </a:tcPr>
                </a:tc>
              </a:tr>
              <a:tr h="670560">
                <a:tc>
                  <a:txBody>
                    <a:bodyPr/>
                    <a:lstStyle/>
                    <a:p>
                      <a:pPr algn="ctr">
                        <a:defRPr sz="1300">
                          <a:solidFill>
                            <a:srgbClr val="334155"/>
                          </a:solidFill>
                          <a:latin typeface="Calibri" panose="020F0502020204030204"/>
                        </a:defRPr>
                      </a:pPr>
                      <a:r>
                        <a:t>0.30</a:t>
                      </a:r>
                    </a:p>
                  </a:txBody>
                  <a:tcPr>
                    <a:solidFill>
                      <a:srgbClr val="F1F5F9"/>
                    </a:solidFill>
                  </a:tcPr>
                </a:tc>
                <a:tc>
                  <a:txBody>
                    <a:bodyPr/>
                    <a:lstStyle/>
                    <a:p>
                      <a:pPr algn="ctr">
                        <a:defRPr sz="1300">
                          <a:solidFill>
                            <a:srgbClr val="334155"/>
                          </a:solidFill>
                          <a:latin typeface="Calibri" panose="020F0502020204030204"/>
                        </a:defRPr>
                      </a:pPr>
                      <a:r>
                        <a:t>100</a:t>
                      </a:r>
                    </a:p>
                  </a:txBody>
                  <a:tcPr>
                    <a:solidFill>
                      <a:srgbClr val="F1F5F9"/>
                    </a:solidFill>
                  </a:tcPr>
                </a:tc>
                <a:tc>
                  <a:txBody>
                    <a:bodyPr/>
                    <a:lstStyle/>
                    <a:p>
                      <a:pPr algn="ctr">
                        <a:defRPr sz="1300">
                          <a:solidFill>
                            <a:srgbClr val="334155"/>
                          </a:solidFill>
                          <a:latin typeface="Calibri" panose="020F0502020204030204"/>
                        </a:defRPr>
                      </a:pPr>
                      <a:r>
                        <a:t>85</a:t>
                      </a:r>
                    </a:p>
                  </a:txBody>
                  <a:tcPr>
                    <a:solidFill>
                      <a:srgbClr val="F1F5F9"/>
                    </a:solidFill>
                  </a:tcPr>
                </a:tc>
                <a:tc>
                  <a:txBody>
                    <a:bodyPr/>
                    <a:lstStyle/>
                    <a:p>
                      <a:pPr algn="ctr">
                        <a:defRPr sz="1300">
                          <a:solidFill>
                            <a:srgbClr val="334155"/>
                          </a:solidFill>
                          <a:latin typeface="Calibri" panose="020F0502020204030204"/>
                        </a:defRPr>
                      </a:pPr>
                      <a:r>
                        <a:t>15</a:t>
                      </a:r>
                    </a:p>
                  </a:txBody>
                  <a:tcPr>
                    <a:solidFill>
                      <a:srgbClr val="F1F5F9"/>
                    </a:solidFill>
                  </a:tcPr>
                </a:tc>
                <a:tc>
                  <a:txBody>
                    <a:bodyPr/>
                    <a:lstStyle/>
                    <a:p>
                      <a:pPr algn="ctr">
                        <a:defRPr sz="1300">
                          <a:solidFill>
                            <a:srgbClr val="334155"/>
                          </a:solidFill>
                          <a:latin typeface="Calibri" panose="020F0502020204030204"/>
                        </a:defRPr>
                      </a:pPr>
                      <a:r>
                        <a:t>0</a:t>
                      </a:r>
                    </a:p>
                  </a:txBody>
                  <a:tcPr>
                    <a:solidFill>
                      <a:srgbClr val="F1F5F9"/>
                    </a:solidFill>
                  </a:tcPr>
                </a:tc>
                <a:tc>
                  <a:txBody>
                    <a:bodyPr/>
                    <a:lstStyle/>
                    <a:p>
                      <a:pPr algn="ctr">
                        <a:defRPr sz="1300">
                          <a:solidFill>
                            <a:srgbClr val="334155"/>
                          </a:solidFill>
                          <a:latin typeface="Calibri" panose="020F0502020204030204"/>
                        </a:defRPr>
                      </a:pPr>
                      <a:r>
                        <a:t>92.5%</a:t>
                      </a:r>
                    </a:p>
                  </a:txBody>
                  <a:tcPr>
                    <a:solidFill>
                      <a:srgbClr val="F1F5F9"/>
                    </a:solidFill>
                  </a:tcPr>
                </a:tc>
                <a:tc>
                  <a:txBody>
                    <a:bodyPr/>
                    <a:lstStyle/>
                    <a:p>
                      <a:pPr algn="ctr">
                        <a:defRPr sz="1300">
                          <a:solidFill>
                            <a:srgbClr val="334155"/>
                          </a:solidFill>
                          <a:latin typeface="Calibri" panose="020F0502020204030204"/>
                        </a:defRPr>
                      </a:pPr>
                      <a:r>
                        <a:t>15.0%</a:t>
                      </a:r>
                    </a:p>
                  </a:txBody>
                  <a:tcPr>
                    <a:solidFill>
                      <a:srgbClr val="F1F5F9"/>
                    </a:solidFill>
                  </a:tcPr>
                </a:tc>
                <a:tc>
                  <a:txBody>
                    <a:bodyPr/>
                    <a:lstStyle/>
                    <a:p>
                      <a:pPr algn="ctr">
                        <a:defRPr sz="1300">
                          <a:solidFill>
                            <a:srgbClr val="334155"/>
                          </a:solidFill>
                          <a:latin typeface="Calibri" panose="020F0502020204030204"/>
                        </a:defRPr>
                      </a:pPr>
                      <a:r>
                        <a:t>0.0%</a:t>
                      </a:r>
                    </a:p>
                  </a:txBody>
                  <a:tcPr>
                    <a:solidFill>
                      <a:srgbClr val="F1F5F9"/>
                    </a:solidFill>
                  </a:tcPr>
                </a:tc>
              </a:tr>
              <a:tr h="670560">
                <a:tc>
                  <a:txBody>
                    <a:bodyPr/>
                    <a:lstStyle/>
                    <a:p>
                      <a:pPr algn="ctr">
                        <a:defRPr sz="1300">
                          <a:solidFill>
                            <a:srgbClr val="334155"/>
                          </a:solidFill>
                          <a:latin typeface="Calibri" panose="020F0502020204030204"/>
                        </a:defRPr>
                      </a:pPr>
                      <a:r>
                        <a:t>0.35</a:t>
                      </a:r>
                    </a:p>
                  </a:txBody>
                  <a:tcPr>
                    <a:solidFill>
                      <a:srgbClr val="F1F5F9"/>
                    </a:solidFill>
                  </a:tcPr>
                </a:tc>
                <a:tc>
                  <a:txBody>
                    <a:bodyPr/>
                    <a:lstStyle/>
                    <a:p>
                      <a:pPr algn="ctr">
                        <a:defRPr sz="1300">
                          <a:solidFill>
                            <a:srgbClr val="334155"/>
                          </a:solidFill>
                          <a:latin typeface="Calibri" panose="020F0502020204030204"/>
                        </a:defRPr>
                      </a:pPr>
                      <a:r>
                        <a:t>100</a:t>
                      </a:r>
                    </a:p>
                  </a:txBody>
                  <a:tcPr>
                    <a:solidFill>
                      <a:srgbClr val="F1F5F9"/>
                    </a:solidFill>
                  </a:tcPr>
                </a:tc>
                <a:tc>
                  <a:txBody>
                    <a:bodyPr/>
                    <a:lstStyle/>
                    <a:p>
                      <a:pPr algn="ctr">
                        <a:defRPr sz="1300">
                          <a:solidFill>
                            <a:srgbClr val="334155"/>
                          </a:solidFill>
                          <a:latin typeface="Calibri" panose="020F0502020204030204"/>
                        </a:defRPr>
                      </a:pPr>
                      <a:r>
                        <a:t>94</a:t>
                      </a:r>
                    </a:p>
                  </a:txBody>
                  <a:tcPr>
                    <a:solidFill>
                      <a:srgbClr val="F1F5F9"/>
                    </a:solidFill>
                  </a:tcPr>
                </a:tc>
                <a:tc>
                  <a:txBody>
                    <a:bodyPr/>
                    <a:lstStyle/>
                    <a:p>
                      <a:pPr algn="ctr">
                        <a:defRPr sz="1300">
                          <a:solidFill>
                            <a:srgbClr val="334155"/>
                          </a:solidFill>
                          <a:latin typeface="Calibri" panose="020F0502020204030204"/>
                        </a:defRPr>
                      </a:pPr>
                      <a:r>
                        <a:t>6</a:t>
                      </a:r>
                    </a:p>
                  </a:txBody>
                  <a:tcPr>
                    <a:solidFill>
                      <a:srgbClr val="F1F5F9"/>
                    </a:solidFill>
                  </a:tcPr>
                </a:tc>
                <a:tc>
                  <a:txBody>
                    <a:bodyPr/>
                    <a:lstStyle/>
                    <a:p>
                      <a:pPr algn="ctr">
                        <a:defRPr sz="1300">
                          <a:solidFill>
                            <a:srgbClr val="334155"/>
                          </a:solidFill>
                          <a:latin typeface="Calibri" panose="020F0502020204030204"/>
                        </a:defRPr>
                      </a:pPr>
                      <a:r>
                        <a:t>0</a:t>
                      </a:r>
                    </a:p>
                  </a:txBody>
                  <a:tcPr>
                    <a:solidFill>
                      <a:srgbClr val="F1F5F9"/>
                    </a:solidFill>
                  </a:tcPr>
                </a:tc>
                <a:tc>
                  <a:txBody>
                    <a:bodyPr/>
                    <a:lstStyle/>
                    <a:p>
                      <a:pPr algn="ctr">
                        <a:defRPr sz="1300">
                          <a:solidFill>
                            <a:srgbClr val="334155"/>
                          </a:solidFill>
                          <a:latin typeface="Calibri" panose="020F0502020204030204"/>
                        </a:defRPr>
                      </a:pPr>
                      <a:r>
                        <a:t>97.0%</a:t>
                      </a:r>
                    </a:p>
                  </a:txBody>
                  <a:tcPr>
                    <a:solidFill>
                      <a:srgbClr val="F1F5F9"/>
                    </a:solidFill>
                  </a:tcPr>
                </a:tc>
                <a:tc>
                  <a:txBody>
                    <a:bodyPr/>
                    <a:lstStyle/>
                    <a:p>
                      <a:pPr algn="ctr">
                        <a:defRPr sz="1300">
                          <a:solidFill>
                            <a:srgbClr val="334155"/>
                          </a:solidFill>
                          <a:latin typeface="Calibri" panose="020F0502020204030204"/>
                        </a:defRPr>
                      </a:pPr>
                      <a:r>
                        <a:t>6.0%</a:t>
                      </a:r>
                    </a:p>
                  </a:txBody>
                  <a:tcPr>
                    <a:solidFill>
                      <a:srgbClr val="F1F5F9"/>
                    </a:solidFill>
                  </a:tcPr>
                </a:tc>
                <a:tc>
                  <a:txBody>
                    <a:bodyPr/>
                    <a:lstStyle/>
                    <a:p>
                      <a:pPr algn="ctr">
                        <a:defRPr sz="1300">
                          <a:solidFill>
                            <a:srgbClr val="334155"/>
                          </a:solidFill>
                          <a:latin typeface="Calibri" panose="020F0502020204030204"/>
                        </a:defRPr>
                      </a:pPr>
                      <a:r>
                        <a:t>0.0%</a:t>
                      </a:r>
                    </a:p>
                  </a:txBody>
                  <a:tcPr>
                    <a:solidFill>
                      <a:srgbClr val="F1F5F9"/>
                    </a:solidFill>
                  </a:tcPr>
                </a:tc>
              </a:tr>
              <a:tr h="670560">
                <a:tc>
                  <a:txBody>
                    <a:bodyPr/>
                    <a:lstStyle/>
                    <a:p>
                      <a:pPr algn="ctr">
                        <a:defRPr sz="1300" b="1">
                          <a:solidFill>
                            <a:srgbClr val="0D9488"/>
                          </a:solidFill>
                          <a:latin typeface="Calibri" panose="020F0502020204030204"/>
                        </a:defRPr>
                      </a:pPr>
                      <a:r>
                        <a:t>0.40 (Optimal)</a:t>
                      </a:r>
                    </a:p>
                  </a:txBody>
                  <a:tcPr>
                    <a:solidFill>
                      <a:srgbClr val="D1FAE5"/>
                    </a:solidFill>
                  </a:tcPr>
                </a:tc>
                <a:tc>
                  <a:txBody>
                    <a:bodyPr/>
                    <a:lstStyle/>
                    <a:p>
                      <a:pPr algn="ctr">
                        <a:defRPr sz="1300" b="1">
                          <a:solidFill>
                            <a:srgbClr val="0D9488"/>
                          </a:solidFill>
                          <a:latin typeface="Calibri" panose="020F0502020204030204"/>
                        </a:defRPr>
                      </a:pPr>
                      <a:r>
                        <a:t>98</a:t>
                      </a:r>
                    </a:p>
                  </a:txBody>
                  <a:tcPr>
                    <a:solidFill>
                      <a:srgbClr val="D1FAE5"/>
                    </a:solidFill>
                  </a:tcPr>
                </a:tc>
                <a:tc>
                  <a:txBody>
                    <a:bodyPr/>
                    <a:lstStyle/>
                    <a:p>
                      <a:pPr algn="ctr">
                        <a:defRPr sz="1300" b="1">
                          <a:solidFill>
                            <a:srgbClr val="0D9488"/>
                          </a:solidFill>
                          <a:latin typeface="Calibri" panose="020F0502020204030204"/>
                        </a:defRPr>
                      </a:pPr>
                      <a:r>
                        <a:t>100</a:t>
                      </a:r>
                    </a:p>
                  </a:txBody>
                  <a:tcPr>
                    <a:solidFill>
                      <a:srgbClr val="D1FAE5"/>
                    </a:solidFill>
                  </a:tcPr>
                </a:tc>
                <a:tc>
                  <a:txBody>
                    <a:bodyPr/>
                    <a:lstStyle/>
                    <a:p>
                      <a:pPr algn="ctr">
                        <a:defRPr sz="1300" b="1">
                          <a:solidFill>
                            <a:srgbClr val="0D9488"/>
                          </a:solidFill>
                          <a:latin typeface="Calibri" panose="020F0502020204030204"/>
                        </a:defRPr>
                      </a:pPr>
                      <a:r>
                        <a:t>0</a:t>
                      </a:r>
                    </a:p>
                  </a:txBody>
                  <a:tcPr>
                    <a:solidFill>
                      <a:srgbClr val="D1FAE5"/>
                    </a:solidFill>
                  </a:tcPr>
                </a:tc>
                <a:tc>
                  <a:txBody>
                    <a:bodyPr/>
                    <a:lstStyle/>
                    <a:p>
                      <a:pPr algn="ctr">
                        <a:defRPr sz="1300" b="1">
                          <a:solidFill>
                            <a:srgbClr val="0D9488"/>
                          </a:solidFill>
                          <a:latin typeface="Calibri" panose="020F0502020204030204"/>
                        </a:defRPr>
                      </a:pPr>
                      <a:r>
                        <a:t>2</a:t>
                      </a:r>
                    </a:p>
                  </a:txBody>
                  <a:tcPr>
                    <a:solidFill>
                      <a:srgbClr val="D1FAE5"/>
                    </a:solidFill>
                  </a:tcPr>
                </a:tc>
                <a:tc>
                  <a:txBody>
                    <a:bodyPr/>
                    <a:lstStyle/>
                    <a:p>
                      <a:pPr algn="ctr">
                        <a:defRPr sz="1300" b="1">
                          <a:solidFill>
                            <a:srgbClr val="0D9488"/>
                          </a:solidFill>
                          <a:latin typeface="Calibri" panose="020F0502020204030204"/>
                        </a:defRPr>
                      </a:pPr>
                      <a:r>
                        <a:t>99.0%</a:t>
                      </a:r>
                    </a:p>
                  </a:txBody>
                  <a:tcPr>
                    <a:solidFill>
                      <a:srgbClr val="D1FAE5"/>
                    </a:solidFill>
                  </a:tcPr>
                </a:tc>
                <a:tc>
                  <a:txBody>
                    <a:bodyPr/>
                    <a:lstStyle/>
                    <a:p>
                      <a:pPr algn="ctr">
                        <a:defRPr sz="1300" b="1">
                          <a:solidFill>
                            <a:srgbClr val="0D9488"/>
                          </a:solidFill>
                          <a:latin typeface="Calibri" panose="020F0502020204030204"/>
                        </a:defRPr>
                      </a:pPr>
                      <a:r>
                        <a:t>0.0%</a:t>
                      </a:r>
                    </a:p>
                  </a:txBody>
                  <a:tcPr>
                    <a:solidFill>
                      <a:srgbClr val="D1FAE5"/>
                    </a:solidFill>
                  </a:tcPr>
                </a:tc>
                <a:tc>
                  <a:txBody>
                    <a:bodyPr/>
                    <a:lstStyle/>
                    <a:p>
                      <a:pPr algn="ctr">
                        <a:defRPr sz="1300" b="1">
                          <a:solidFill>
                            <a:srgbClr val="0D9488"/>
                          </a:solidFill>
                          <a:latin typeface="Calibri" panose="020F0502020204030204"/>
                        </a:defRPr>
                      </a:pPr>
                      <a:r>
                        <a:t>2.0%</a:t>
                      </a:r>
                    </a:p>
                  </a:txBody>
                  <a:tcPr>
                    <a:solidFill>
                      <a:srgbClr val="D1FAE5"/>
                    </a:solidFill>
                  </a:tcPr>
                </a:tc>
              </a:tr>
              <a:tr h="670560">
                <a:tc>
                  <a:txBody>
                    <a:bodyPr/>
                    <a:lstStyle/>
                    <a:p>
                      <a:pPr algn="ctr">
                        <a:defRPr sz="1300" b="1">
                          <a:solidFill>
                            <a:srgbClr val="0D9488"/>
                          </a:solidFill>
                          <a:latin typeface="Calibri" panose="020F0502020204030204"/>
                        </a:defRPr>
                      </a:pPr>
                      <a:r>
                        <a:t>0.45 (Optimal)</a:t>
                      </a:r>
                    </a:p>
                  </a:txBody>
                  <a:tcPr>
                    <a:solidFill>
                      <a:srgbClr val="D1FAE5"/>
                    </a:solidFill>
                  </a:tcPr>
                </a:tc>
                <a:tc>
                  <a:txBody>
                    <a:bodyPr/>
                    <a:lstStyle/>
                    <a:p>
                      <a:pPr algn="ctr">
                        <a:defRPr sz="1300" b="1">
                          <a:solidFill>
                            <a:srgbClr val="0D9488"/>
                          </a:solidFill>
                          <a:latin typeface="Calibri" panose="020F0502020204030204"/>
                        </a:defRPr>
                      </a:pPr>
                      <a:r>
                        <a:t>95</a:t>
                      </a:r>
                    </a:p>
                  </a:txBody>
                  <a:tcPr>
                    <a:solidFill>
                      <a:srgbClr val="D1FAE5"/>
                    </a:solidFill>
                  </a:tcPr>
                </a:tc>
                <a:tc>
                  <a:txBody>
                    <a:bodyPr/>
                    <a:lstStyle/>
                    <a:p>
                      <a:pPr algn="ctr">
                        <a:defRPr sz="1300" b="1">
                          <a:solidFill>
                            <a:srgbClr val="0D9488"/>
                          </a:solidFill>
                          <a:latin typeface="Calibri" panose="020F0502020204030204"/>
                        </a:defRPr>
                      </a:pPr>
                      <a:r>
                        <a:t>100</a:t>
                      </a:r>
                    </a:p>
                  </a:txBody>
                  <a:tcPr>
                    <a:solidFill>
                      <a:srgbClr val="D1FAE5"/>
                    </a:solidFill>
                  </a:tcPr>
                </a:tc>
                <a:tc>
                  <a:txBody>
                    <a:bodyPr/>
                    <a:lstStyle/>
                    <a:p>
                      <a:pPr algn="ctr">
                        <a:defRPr sz="1300" b="1">
                          <a:solidFill>
                            <a:srgbClr val="0D9488"/>
                          </a:solidFill>
                          <a:latin typeface="Calibri" panose="020F0502020204030204"/>
                        </a:defRPr>
                      </a:pPr>
                      <a:r>
                        <a:t>0</a:t>
                      </a:r>
                    </a:p>
                  </a:txBody>
                  <a:tcPr>
                    <a:solidFill>
                      <a:srgbClr val="D1FAE5"/>
                    </a:solidFill>
                  </a:tcPr>
                </a:tc>
                <a:tc>
                  <a:txBody>
                    <a:bodyPr/>
                    <a:lstStyle/>
                    <a:p>
                      <a:pPr algn="ctr">
                        <a:defRPr sz="1300" b="1">
                          <a:solidFill>
                            <a:srgbClr val="0D9488"/>
                          </a:solidFill>
                          <a:latin typeface="Calibri" panose="020F0502020204030204"/>
                        </a:defRPr>
                      </a:pPr>
                      <a:r>
                        <a:t>5</a:t>
                      </a:r>
                    </a:p>
                  </a:txBody>
                  <a:tcPr>
                    <a:solidFill>
                      <a:srgbClr val="D1FAE5"/>
                    </a:solidFill>
                  </a:tcPr>
                </a:tc>
                <a:tc>
                  <a:txBody>
                    <a:bodyPr/>
                    <a:lstStyle/>
                    <a:p>
                      <a:pPr algn="ctr">
                        <a:defRPr sz="1300" b="1">
                          <a:solidFill>
                            <a:srgbClr val="0D9488"/>
                          </a:solidFill>
                          <a:latin typeface="Calibri" panose="020F0502020204030204"/>
                        </a:defRPr>
                      </a:pPr>
                      <a:r>
                        <a:t>97.5%</a:t>
                      </a:r>
                    </a:p>
                  </a:txBody>
                  <a:tcPr>
                    <a:solidFill>
                      <a:srgbClr val="D1FAE5"/>
                    </a:solidFill>
                  </a:tcPr>
                </a:tc>
                <a:tc>
                  <a:txBody>
                    <a:bodyPr/>
                    <a:lstStyle/>
                    <a:p>
                      <a:pPr algn="ctr">
                        <a:defRPr sz="1300" b="1">
                          <a:solidFill>
                            <a:srgbClr val="0D9488"/>
                          </a:solidFill>
                          <a:latin typeface="Calibri" panose="020F0502020204030204"/>
                        </a:defRPr>
                      </a:pPr>
                      <a:r>
                        <a:t>0.0%</a:t>
                      </a:r>
                    </a:p>
                  </a:txBody>
                  <a:tcPr>
                    <a:solidFill>
                      <a:srgbClr val="D1FAE5"/>
                    </a:solidFill>
                  </a:tcPr>
                </a:tc>
                <a:tc>
                  <a:txBody>
                    <a:bodyPr/>
                    <a:lstStyle/>
                    <a:p>
                      <a:pPr algn="ctr">
                        <a:defRPr sz="1300" b="1">
                          <a:solidFill>
                            <a:srgbClr val="0D9488"/>
                          </a:solidFill>
                          <a:latin typeface="Calibri" panose="020F0502020204030204"/>
                        </a:defRPr>
                      </a:pPr>
                      <a:r>
                        <a:t>5.0%</a:t>
                      </a:r>
                    </a:p>
                  </a:txBody>
                  <a:tcPr>
                    <a:solidFill>
                      <a:srgbClr val="D1FAE5"/>
                    </a:solidFill>
                  </a:tcPr>
                </a:tc>
              </a:tr>
              <a:tr h="670560">
                <a:tc>
                  <a:txBody>
                    <a:bodyPr/>
                    <a:lstStyle/>
                    <a:p>
                      <a:pPr algn="ctr">
                        <a:defRPr sz="1300">
                          <a:solidFill>
                            <a:srgbClr val="334155"/>
                          </a:solidFill>
                          <a:latin typeface="Calibri" panose="020F0502020204030204"/>
                        </a:defRPr>
                      </a:pPr>
                      <a:r>
                        <a:t>0.50</a:t>
                      </a:r>
                    </a:p>
                  </a:txBody>
                  <a:tcPr>
                    <a:solidFill>
                      <a:srgbClr val="F1F5F9"/>
                    </a:solidFill>
                  </a:tcPr>
                </a:tc>
                <a:tc>
                  <a:txBody>
                    <a:bodyPr/>
                    <a:lstStyle/>
                    <a:p>
                      <a:pPr algn="ctr">
                        <a:defRPr sz="1300">
                          <a:solidFill>
                            <a:srgbClr val="334155"/>
                          </a:solidFill>
                          <a:latin typeface="Calibri" panose="020F0502020204030204"/>
                        </a:defRPr>
                      </a:pPr>
                      <a:r>
                        <a:t>82</a:t>
                      </a:r>
                    </a:p>
                  </a:txBody>
                  <a:tcPr>
                    <a:solidFill>
                      <a:srgbClr val="F1F5F9"/>
                    </a:solidFill>
                  </a:tcPr>
                </a:tc>
                <a:tc>
                  <a:txBody>
                    <a:bodyPr/>
                    <a:lstStyle/>
                    <a:p>
                      <a:pPr algn="ctr">
                        <a:defRPr sz="1300">
                          <a:solidFill>
                            <a:srgbClr val="334155"/>
                          </a:solidFill>
                          <a:latin typeface="Calibri" panose="020F0502020204030204"/>
                        </a:defRPr>
                      </a:pPr>
                      <a:r>
                        <a:t>100</a:t>
                      </a:r>
                    </a:p>
                  </a:txBody>
                  <a:tcPr>
                    <a:solidFill>
                      <a:srgbClr val="F1F5F9"/>
                    </a:solidFill>
                  </a:tcPr>
                </a:tc>
                <a:tc>
                  <a:txBody>
                    <a:bodyPr/>
                    <a:lstStyle/>
                    <a:p>
                      <a:pPr algn="ctr">
                        <a:defRPr sz="1300">
                          <a:solidFill>
                            <a:srgbClr val="334155"/>
                          </a:solidFill>
                          <a:latin typeface="Calibri" panose="020F0502020204030204"/>
                        </a:defRPr>
                      </a:pPr>
                      <a:r>
                        <a:t>0</a:t>
                      </a:r>
                    </a:p>
                  </a:txBody>
                  <a:tcPr>
                    <a:solidFill>
                      <a:srgbClr val="F1F5F9"/>
                    </a:solidFill>
                  </a:tcPr>
                </a:tc>
                <a:tc>
                  <a:txBody>
                    <a:bodyPr/>
                    <a:lstStyle/>
                    <a:p>
                      <a:pPr algn="ctr">
                        <a:defRPr sz="1300">
                          <a:solidFill>
                            <a:srgbClr val="334155"/>
                          </a:solidFill>
                          <a:latin typeface="Calibri" panose="020F0502020204030204"/>
                        </a:defRPr>
                      </a:pPr>
                      <a:r>
                        <a:t>18</a:t>
                      </a:r>
                    </a:p>
                  </a:txBody>
                  <a:tcPr>
                    <a:solidFill>
                      <a:srgbClr val="F1F5F9"/>
                    </a:solidFill>
                  </a:tcPr>
                </a:tc>
                <a:tc>
                  <a:txBody>
                    <a:bodyPr/>
                    <a:lstStyle/>
                    <a:p>
                      <a:pPr algn="ctr">
                        <a:defRPr sz="1300">
                          <a:solidFill>
                            <a:srgbClr val="334155"/>
                          </a:solidFill>
                          <a:latin typeface="Calibri" panose="020F0502020204030204"/>
                        </a:defRPr>
                      </a:pPr>
                      <a:r>
                        <a:t>91.0%</a:t>
                      </a:r>
                    </a:p>
                  </a:txBody>
                  <a:tcPr>
                    <a:solidFill>
                      <a:srgbClr val="F1F5F9"/>
                    </a:solidFill>
                  </a:tcPr>
                </a:tc>
                <a:tc>
                  <a:txBody>
                    <a:bodyPr/>
                    <a:lstStyle/>
                    <a:p>
                      <a:pPr algn="ctr">
                        <a:defRPr sz="1300">
                          <a:solidFill>
                            <a:srgbClr val="334155"/>
                          </a:solidFill>
                          <a:latin typeface="Calibri" panose="020F0502020204030204"/>
                        </a:defRPr>
                      </a:pPr>
                      <a:r>
                        <a:t>0.0%</a:t>
                      </a:r>
                    </a:p>
                  </a:txBody>
                  <a:tcPr>
                    <a:solidFill>
                      <a:srgbClr val="F1F5F9"/>
                    </a:solidFill>
                  </a:tcPr>
                </a:tc>
                <a:tc>
                  <a:txBody>
                    <a:bodyPr/>
                    <a:lstStyle/>
                    <a:p>
                      <a:pPr algn="ctr">
                        <a:defRPr sz="1300">
                          <a:solidFill>
                            <a:srgbClr val="334155"/>
                          </a:solidFill>
                          <a:latin typeface="Calibri" panose="020F0502020204030204"/>
                        </a:defRPr>
                      </a:pPr>
                      <a:r>
                        <a:t>18.0%</a:t>
                      </a:r>
                    </a:p>
                  </a:txBody>
                  <a:tcPr>
                    <a:solidFill>
                      <a:srgbClr val="F1F5F9"/>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Error Rate Trade-off Visualizer</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160145"/>
            <a:ext cx="10820400" cy="5386070"/>
          </a:xfrm>
          <a:prstGeom prst="roundRect">
            <a:avLst/>
          </a:prstGeom>
          <a:blipFill rotWithShape="1">
            <a:blip r:embed="rId1"/>
            <a:stretch>
              <a:fillRect/>
            </a:stretch>
          </a:blipFill>
          <a:ln w="19050">
            <a:solidFill>
              <a:srgbClr val="0D948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System Latency &amp; Throughput Metrics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85800" y="2011680"/>
          <a:ext cx="10820095" cy="2743200"/>
        </p:xfrm>
        <a:graphic>
          <a:graphicData uri="http://schemas.openxmlformats.org/drawingml/2006/table">
            <a:tbl>
              <a:tblPr firstRow="1" bandRow="1">
                <a:tableStyleId>{5C22544A-7EE6-4342-B048-85BDC9FD1C3A}</a:tableStyleId>
              </a:tblPr>
              <a:tblGrid>
                <a:gridCol w="2705023"/>
                <a:gridCol w="2705023"/>
                <a:gridCol w="2705023"/>
                <a:gridCol w="2705026"/>
              </a:tblGrid>
              <a:tr h="914400">
                <a:tc>
                  <a:txBody>
                    <a:bodyPr/>
                    <a:lstStyle/>
                    <a:p>
                      <a:pPr algn="ctr">
                        <a:defRPr sz="1400" b="1">
                          <a:solidFill>
                            <a:srgbClr val="FFFFFF"/>
                          </a:solidFill>
                          <a:latin typeface="Calibri" panose="020F0502020204030204"/>
                        </a:defRPr>
                      </a:pPr>
                      <a:r>
                        <a:t>Architecture Model</a:t>
                      </a:r>
                    </a:p>
                  </a:txBody>
                  <a:tcPr>
                    <a:solidFill>
                      <a:srgbClr val="0F172A"/>
                    </a:solidFill>
                  </a:tcPr>
                </a:tc>
                <a:tc>
                  <a:txBody>
                    <a:bodyPr/>
                    <a:lstStyle/>
                    <a:p>
                      <a:pPr algn="ctr">
                        <a:defRPr sz="1400" b="1">
                          <a:solidFill>
                            <a:srgbClr val="FFFFFF"/>
                          </a:solidFill>
                          <a:latin typeface="Calibri" panose="020F0502020204030204"/>
                        </a:defRPr>
                      </a:pPr>
                      <a:r>
                        <a:t>Average FPS</a:t>
                      </a:r>
                    </a:p>
                  </a:txBody>
                  <a:tcPr>
                    <a:solidFill>
                      <a:srgbClr val="0F172A"/>
                    </a:solidFill>
                  </a:tcPr>
                </a:tc>
                <a:tc>
                  <a:txBody>
                    <a:bodyPr/>
                    <a:lstStyle/>
                    <a:p>
                      <a:pPr algn="ctr">
                        <a:defRPr sz="1400" b="1">
                          <a:solidFill>
                            <a:srgbClr val="FFFFFF"/>
                          </a:solidFill>
                          <a:latin typeface="Calibri" panose="020F0502020204030204"/>
                        </a:defRPr>
                      </a:pPr>
                      <a:r>
                        <a:t>UI Responsiveness</a:t>
                      </a:r>
                    </a:p>
                  </a:txBody>
                  <a:tcPr>
                    <a:solidFill>
                      <a:srgbClr val="0F172A"/>
                    </a:solidFill>
                  </a:tcPr>
                </a:tc>
                <a:tc>
                  <a:txBody>
                    <a:bodyPr/>
                    <a:lstStyle/>
                    <a:p>
                      <a:pPr algn="ctr">
                        <a:defRPr sz="1400" b="1">
                          <a:solidFill>
                            <a:srgbClr val="FFFFFF"/>
                          </a:solidFill>
                          <a:latin typeface="Calibri" panose="020F0502020204030204"/>
                        </a:defRPr>
                      </a:pPr>
                      <a:r>
                        <a:t>Hardware Drivers</a:t>
                      </a:r>
                    </a:p>
                  </a:txBody>
                  <a:tcPr>
                    <a:solidFill>
                      <a:srgbClr val="0F172A"/>
                    </a:solidFill>
                  </a:tcPr>
                </a:tc>
              </a:tr>
              <a:tr h="914400">
                <a:tc>
                  <a:txBody>
                    <a:bodyPr/>
                    <a:lstStyle/>
                    <a:p>
                      <a:pPr algn="ctr">
                        <a:defRPr sz="1300">
                          <a:solidFill>
                            <a:srgbClr val="334155"/>
                          </a:solidFill>
                          <a:latin typeface="Calibri" panose="020F0502020204030204"/>
                        </a:defRPr>
                      </a:pPr>
                      <a:r>
                        <a:t>Single-Threaded Baseline</a:t>
                      </a:r>
                    </a:p>
                  </a:txBody>
                  <a:tcPr>
                    <a:solidFill>
                      <a:srgbClr val="F1F5F9"/>
                    </a:solidFill>
                  </a:tcPr>
                </a:tc>
                <a:tc>
                  <a:txBody>
                    <a:bodyPr/>
                    <a:lstStyle/>
                    <a:p>
                      <a:pPr algn="ctr">
                        <a:defRPr sz="1300">
                          <a:solidFill>
                            <a:srgbClr val="334155"/>
                          </a:solidFill>
                          <a:latin typeface="Calibri" panose="020F0502020204030204"/>
                        </a:defRPr>
                      </a:pPr>
                      <a:r>
                        <a:t>4.2 FPS</a:t>
                      </a:r>
                    </a:p>
                  </a:txBody>
                  <a:tcPr>
                    <a:solidFill>
                      <a:srgbClr val="F1F5F9"/>
                    </a:solidFill>
                  </a:tcPr>
                </a:tc>
                <a:tc>
                  <a:txBody>
                    <a:bodyPr/>
                    <a:lstStyle/>
                    <a:p>
                      <a:pPr algn="ctr">
                        <a:defRPr sz="1300">
                          <a:solidFill>
                            <a:srgbClr val="334155"/>
                          </a:solidFill>
                          <a:latin typeface="Calibri" panose="020F0502020204030204"/>
                        </a:defRPr>
                      </a:pPr>
                      <a:r>
                        <a:t>Unresponsive (Severe lagging)</a:t>
                      </a:r>
                    </a:p>
                  </a:txBody>
                  <a:tcPr>
                    <a:solidFill>
                      <a:srgbClr val="F1F5F9"/>
                    </a:solidFill>
                  </a:tcPr>
                </a:tc>
                <a:tc>
                  <a:txBody>
                    <a:bodyPr/>
                    <a:lstStyle/>
                    <a:p>
                      <a:pPr algn="ctr">
                        <a:defRPr sz="1300">
                          <a:solidFill>
                            <a:srgbClr val="334155"/>
                          </a:solidFill>
                          <a:latin typeface="Calibri" panose="020F0502020204030204"/>
                        </a:defRPr>
                      </a:pPr>
                      <a:r>
                        <a:t>MSMF Default Engine</a:t>
                      </a:r>
                    </a:p>
                  </a:txBody>
                  <a:tcPr>
                    <a:solidFill>
                      <a:srgbClr val="F1F5F9"/>
                    </a:solidFill>
                  </a:tcPr>
                </a:tc>
              </a:tr>
              <a:tr h="914400">
                <a:tc>
                  <a:txBody>
                    <a:bodyPr/>
                    <a:lstStyle/>
                    <a:p>
                      <a:pPr algn="ctr">
                        <a:defRPr sz="1300" b="1">
                          <a:solidFill>
                            <a:srgbClr val="0D9488"/>
                          </a:solidFill>
                          <a:latin typeface="Calibri" panose="020F0502020204030204"/>
                        </a:defRPr>
                      </a:pPr>
                      <a:r>
                        <a:t>Asynchronous Multithreaded</a:t>
                      </a:r>
                    </a:p>
                  </a:txBody>
                  <a:tcPr>
                    <a:solidFill>
                      <a:srgbClr val="D1FAE5"/>
                    </a:solidFill>
                  </a:tcPr>
                </a:tc>
                <a:tc>
                  <a:txBody>
                    <a:bodyPr/>
                    <a:lstStyle/>
                    <a:p>
                      <a:pPr algn="ctr">
                        <a:defRPr sz="1300" b="1">
                          <a:solidFill>
                            <a:srgbClr val="0D9488"/>
                          </a:solidFill>
                          <a:latin typeface="Calibri" panose="020F0502020204030204"/>
                        </a:defRPr>
                      </a:pPr>
                      <a:r>
                        <a:t>32.5 FPS</a:t>
                      </a:r>
                    </a:p>
                  </a:txBody>
                  <a:tcPr>
                    <a:solidFill>
                      <a:srgbClr val="D1FAE5"/>
                    </a:solidFill>
                  </a:tcPr>
                </a:tc>
                <a:tc>
                  <a:txBody>
                    <a:bodyPr/>
                    <a:lstStyle/>
                    <a:p>
                      <a:pPr algn="ctr">
                        <a:defRPr sz="1300" b="1">
                          <a:solidFill>
                            <a:srgbClr val="0D9488"/>
                          </a:solidFill>
                          <a:latin typeface="Calibri" panose="020F0502020204030204"/>
                        </a:defRPr>
                      </a:pPr>
                      <a:r>
                        <a:t>Highly Responsive (Fluid)</a:t>
                      </a:r>
                    </a:p>
                  </a:txBody>
                  <a:tcPr>
                    <a:solidFill>
                      <a:srgbClr val="D1FAE5"/>
                    </a:solidFill>
                  </a:tcPr>
                </a:tc>
                <a:tc>
                  <a:txBody>
                    <a:bodyPr/>
                    <a:lstStyle/>
                    <a:p>
                      <a:pPr algn="ctr">
                        <a:defRPr sz="1300" b="1">
                          <a:solidFill>
                            <a:srgbClr val="0D9488"/>
                          </a:solidFill>
                          <a:latin typeface="Calibri" panose="020F0502020204030204"/>
                        </a:defRPr>
                      </a:pPr>
                      <a:r>
                        <a:t>DirectShow Bypass Driver</a:t>
                      </a:r>
                    </a:p>
                  </a:txBody>
                  <a:tcPr>
                    <a:solidFill>
                      <a:srgbClr val="D1FAE5"/>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Throughput Evaluation Metrics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278890"/>
            <a:ext cx="11161395" cy="5432425"/>
          </a:xfrm>
          <a:prstGeom prst="roundRect">
            <a:avLst/>
          </a:prstGeom>
          <a:blipFill rotWithShape="1">
            <a:blip r:embed="rId1"/>
            <a:stretch>
              <a:fillRect/>
            </a:stretch>
          </a:blipFill>
          <a:ln w="19050">
            <a:solidFill>
              <a:srgbClr val="0D9488"/>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Database Admin &amp; Data Integrity Features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Self-Healing Database</a:t>
            </a:r>
          </a:p>
          <a:p>
            <a:pPr>
              <a:spcAft>
                <a:spcPts val="1000"/>
              </a:spcAft>
              <a:defRPr sz="1400">
                <a:solidFill>
                  <a:srgbClr val="334155"/>
                </a:solidFill>
                <a:latin typeface="Calibri" panose="020F0502020204030204"/>
              </a:defRPr>
            </a:pPr>
            <a:r>
              <a:t>The SQLite engine auto-constructs directories and structural tables if system paths are altered during packaging.</a:t>
            </a:r>
          </a:p>
        </p:txBody>
      </p:sp>
      <p:sp>
        <p:nvSpPr>
          <p:cNvPr id="6" name="Rounded Rectangle 5"/>
          <p:cNvSpPr/>
          <p:nvPr/>
        </p:nvSpPr>
        <p:spPr>
          <a:xfrm>
            <a:off x="443484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Active Deduplication</a:t>
            </a:r>
          </a:p>
          <a:p>
            <a:pPr>
              <a:spcAft>
                <a:spcPts val="1000"/>
              </a:spcAft>
              <a:defRPr sz="1400">
                <a:solidFill>
                  <a:srgbClr val="334155"/>
                </a:solidFill>
                <a:latin typeface="Calibri" panose="020F0502020204030204"/>
              </a:defRPr>
            </a:pPr>
            <a:r>
              <a:t>Checks live face vectors against existing database buffers, blocking duplicate enrollment profiles.</a:t>
            </a:r>
          </a:p>
        </p:txBody>
      </p:sp>
      <p:sp>
        <p:nvSpPr>
          <p:cNvPr id="8" name="Rounded Rectangle 7"/>
          <p:cNvSpPr/>
          <p:nvPr/>
        </p:nvSpPr>
        <p:spPr>
          <a:xfrm>
            <a:off x="8183880" y="1645920"/>
            <a:ext cx="3291840" cy="402336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66760" y="1828800"/>
            <a:ext cx="2926080" cy="365760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Cascading Relational Wipes</a:t>
            </a:r>
          </a:p>
          <a:p>
            <a:pPr>
              <a:spcAft>
                <a:spcPts val="1000"/>
              </a:spcAft>
              <a:defRPr sz="1400">
                <a:solidFill>
                  <a:srgbClr val="334155"/>
                </a:solidFill>
                <a:latin typeface="Calibri" panose="020F0502020204030204"/>
              </a:defRPr>
            </a:pPr>
            <a:r>
              <a:t>Enforces strict database referential integrity—dropping a student automatically drops all associated historical attendance logs.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685800" y="365760"/>
            <a:ext cx="10820095" cy="914400"/>
          </a:xfrm>
          <a:prstGeom prst="rect">
            <a:avLst/>
          </a:prstGeom>
          <a:noFill/>
        </p:spPr>
        <p:txBody>
          <a:bodyPr wrap="none">
            <a:spAutoFit/>
          </a:bodyPr>
          <a:lstStyle/>
          <a:p>
            <a:pPr>
              <a:defRPr sz="2800" b="1">
                <a:solidFill>
                  <a:srgbClr val="0F172A"/>
                </a:solidFill>
                <a:latin typeface="Calibri" panose="020F0502020204030204"/>
              </a:defRPr>
            </a:pPr>
            <a:r>
              <a:t>Conclusion and Recommendations</a:t>
            </a:r>
          </a:p>
        </p:txBody>
      </p:sp>
      <p:sp>
        <p:nvSpPr>
          <p:cNvPr id="3" name="Rectangle 2"/>
          <p:cNvSpPr/>
          <p:nvPr/>
        </p:nvSpPr>
        <p:spPr>
          <a:xfrm>
            <a:off x="685800" y="1051560"/>
            <a:ext cx="1371600" cy="5486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1463040"/>
            <a:ext cx="5120640" cy="438912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4754880" cy="4023360"/>
          </a:xfrm>
          <a:prstGeom prst="rect">
            <a:avLst/>
          </a:prstGeom>
          <a:noFill/>
        </p:spPr>
        <p:txBody>
          <a:bodyPr wrap="square">
            <a:spAutoFit/>
          </a:bodyPr>
          <a:lstStyle/>
          <a:p>
            <a:pPr>
              <a:spcAft>
                <a:spcPts val="1400"/>
              </a:spcAft>
              <a:defRPr sz="1800" b="1">
                <a:solidFill>
                  <a:srgbClr val="0F172A"/>
                </a:solidFill>
                <a:latin typeface="Calibri" panose="020F0502020204030204"/>
              </a:defRPr>
            </a:pPr>
            <a:r>
              <a:t>Core Research Conclusions</a:t>
            </a:r>
          </a:p>
          <a:p>
            <a:pPr>
              <a:spcAft>
                <a:spcPts val="1200"/>
              </a:spcAft>
              <a:defRPr sz="1300">
                <a:solidFill>
                  <a:srgbClr val="334155"/>
                </a:solidFill>
                <a:latin typeface="Calibri" panose="020F0502020204030204"/>
              </a:defRPr>
            </a:pPr>
            <a:r>
              <a:t>• Offline Edge-AI Success: Proved that secure, offline deep-learning models can run seamlessly on standard laptop CPUs.</a:t>
            </a:r>
          </a:p>
          <a:p>
            <a:pPr>
              <a:spcAft>
                <a:spcPts val="1200"/>
              </a:spcAft>
              <a:defRPr sz="1300">
                <a:solidFill>
                  <a:srgbClr val="334155"/>
                </a:solidFill>
                <a:latin typeface="Calibri" panose="020F0502020204030204"/>
              </a:defRPr>
            </a:pPr>
            <a:r>
              <a:t>• Dynamic Anti-Spoofing: Solved the 2D facial recognition photo bypass loop utilizing customized eye aspect ratio tracking.</a:t>
            </a:r>
          </a:p>
          <a:p>
            <a:pPr>
              <a:spcAft>
                <a:spcPts val="1200"/>
              </a:spcAft>
              <a:defRPr sz="1300">
                <a:solidFill>
                  <a:srgbClr val="334155"/>
                </a:solidFill>
                <a:latin typeface="Calibri" panose="020F0502020204030204"/>
              </a:defRPr>
            </a:pPr>
            <a:r>
              <a:t>• Optimized Frame Rates: Achieved a responsive 32.5 FPS, protecting GUI stability from high-intensity math bottlenecks.</a:t>
            </a:r>
          </a:p>
        </p:txBody>
      </p:sp>
      <p:sp>
        <p:nvSpPr>
          <p:cNvPr id="6" name="Rounded Rectangle 5"/>
          <p:cNvSpPr/>
          <p:nvPr/>
        </p:nvSpPr>
        <p:spPr>
          <a:xfrm>
            <a:off x="6385255" y="1463040"/>
            <a:ext cx="5120640" cy="4389120"/>
          </a:xfrm>
          <a:prstGeom prst="roundRect">
            <a:avLst/>
          </a:prstGeom>
          <a:solidFill>
            <a:srgbClr val="F1F5F9"/>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68135" y="1645920"/>
            <a:ext cx="4754880" cy="4023360"/>
          </a:xfrm>
          <a:prstGeom prst="rect">
            <a:avLst/>
          </a:prstGeom>
          <a:noFill/>
        </p:spPr>
        <p:txBody>
          <a:bodyPr wrap="square">
            <a:spAutoFit/>
          </a:bodyPr>
          <a:lstStyle/>
          <a:p>
            <a:pPr>
              <a:spcAft>
                <a:spcPts val="1400"/>
              </a:spcAft>
              <a:defRPr sz="1800" b="1">
                <a:solidFill>
                  <a:srgbClr val="0D9488"/>
                </a:solidFill>
                <a:latin typeface="Calibri" panose="020F0502020204030204"/>
              </a:defRPr>
            </a:pPr>
            <a:r>
              <a:t>Future Project Recommendations</a:t>
            </a:r>
          </a:p>
          <a:p>
            <a:pPr>
              <a:spcAft>
                <a:spcPts val="1200"/>
              </a:spcAft>
              <a:defRPr sz="1300">
                <a:solidFill>
                  <a:srgbClr val="334155"/>
                </a:solidFill>
                <a:latin typeface="Calibri" panose="020F0502020204030204"/>
              </a:defRPr>
            </a:pPr>
            <a:r>
              <a:t>• Android Integration: Port the backend logic into lightweight, offline mobile frameworks for mobile convenience.</a:t>
            </a:r>
          </a:p>
          <a:p>
            <a:pPr>
              <a:spcAft>
                <a:spcPts val="1200"/>
              </a:spcAft>
              <a:defRPr sz="1300">
                <a:solidFill>
                  <a:srgbClr val="334155"/>
                </a:solidFill>
                <a:latin typeface="Calibri" panose="020F0502020204030204"/>
              </a:defRPr>
            </a:pPr>
            <a:r>
              <a:t>• Physical Entry Control: Connect system databases to physical microcontrollers to control examination hall gates.</a:t>
            </a:r>
          </a:p>
          <a:p>
            <a:pPr>
              <a:spcAft>
                <a:spcPts val="1200"/>
              </a:spcAft>
              <a:defRPr sz="1300">
                <a:solidFill>
                  <a:srgbClr val="334155"/>
                </a:solidFill>
                <a:latin typeface="Calibri" panose="020F0502020204030204"/>
              </a:defRPr>
            </a:pPr>
            <a:r>
              <a:t>• Template Protection: Wrap stored 512-dimensional facial embedding arrays inside secure AES-256 blocks.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4371</Words>
  <Application>WPS Presentation</Application>
  <PresentationFormat>On-screen Show (4:3)</PresentationFormat>
  <Paragraphs>208</Paragraphs>
  <Slides>12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Arial</vt:lpstr>
      <vt:lpstr>Calibri</vt:lpstr>
      <vt:lpstr>Consolas</vt:lpstr>
      <vt:lpstr>Microsoft YaHei</vt:lpstr>
      <vt:lpstr>Arial Unicode MS</vt:lpstr>
      <vt:lpstr>MS PGothic</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Adewuyi Goodness</cp:lastModifiedBy>
  <cp:revision>2</cp:revision>
  <dcterms:created xsi:type="dcterms:W3CDTF">2013-01-27T09:14:00Z</dcterms:created>
  <dcterms:modified xsi:type="dcterms:W3CDTF">2026-07-17T15:30:24Z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C5ED1B756ECE49E481512F8CF80AE1C5_12</vt:lpwstr>
  </property>
  <property fmtid="{D5CDD505-2E9C-101B-9397-08002B2CF9AE}" pid="3" name="KSOProductBuildVer">
    <vt:lpwstr>1033-12.1.0.27458</vt:lpwstr>
  </property>
</Properties>
</file>